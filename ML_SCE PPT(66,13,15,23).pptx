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72" r:id="rId10"/>
    <p:sldId id="273" r:id="rId11"/>
    <p:sldId id="263" r:id="rId12"/>
    <p:sldId id="274" r:id="rId13"/>
    <p:sldId id="265" r:id="rId14"/>
    <p:sldId id="266" r:id="rId15"/>
    <p:sldId id="267" r:id="rId16"/>
    <p:sldId id="270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>
      <p:cViewPr>
        <p:scale>
          <a:sx n="66" d="100"/>
          <a:sy n="66" d="100"/>
        </p:scale>
        <p:origin x="676" y="1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C168-6092-4F1A-9EEC-A7F293A84ACD}" type="datetimeFigureOut">
              <a:rPr lang="en-IN" smtClean="0"/>
              <a:pPr/>
              <a:t>07-12-2023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90732-5249-4316-8207-D8E8B1FB3C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62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0732-5249-4316-8207-D8E8B1FB3C24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96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Title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Title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Title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Title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Title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5926" y="0"/>
            <a:ext cx="1432414" cy="16744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8525" y="-89325"/>
            <a:ext cx="8879840" cy="1448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547" y="2229383"/>
            <a:ext cx="6767195" cy="155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67560" y="6445270"/>
            <a:ext cx="1256029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Title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7575" y="6445270"/>
            <a:ext cx="2286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chrisbacani/Udacity-Data-Scientist-Capston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teejmahal20/airline-passenger-satisfactionExample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8726" y="0"/>
            <a:ext cx="1432414" cy="16861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0775" y="0"/>
            <a:ext cx="10541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6581" y="745323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FDFDFD"/>
                </a:solidFill>
                <a:latin typeface="Times New Roman"/>
                <a:cs typeface="Times New Roman"/>
              </a:rPr>
              <a:t>T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81940" y="3084"/>
            <a:ext cx="3600450" cy="795655"/>
            <a:chOff x="8281940" y="3084"/>
            <a:chExt cx="3600450" cy="7956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1940" y="3084"/>
              <a:ext cx="863600" cy="7683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5800" y="26944"/>
              <a:ext cx="761999" cy="6667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3941" y="50353"/>
              <a:ext cx="2838247" cy="74793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140825" y="90468"/>
            <a:ext cx="2539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85" dirty="0">
                <a:latin typeface="Arial MT"/>
                <a:cs typeface="Arial MT"/>
              </a:rPr>
              <a:t>Departmen</a:t>
            </a:r>
            <a:r>
              <a:rPr sz="1800" spc="-90" dirty="0">
                <a:latin typeface="Arial MT"/>
                <a:cs typeface="Arial MT"/>
              </a:rPr>
              <a:t>t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o</a:t>
            </a:r>
            <a:r>
              <a:rPr sz="1800" spc="-90" dirty="0">
                <a:latin typeface="Arial MT"/>
                <a:cs typeface="Arial MT"/>
              </a:rPr>
              <a:t>f </a:t>
            </a:r>
            <a:r>
              <a:rPr sz="1800" spc="-150" dirty="0">
                <a:latin typeface="Arial MT"/>
                <a:cs typeface="Arial MT"/>
              </a:rPr>
              <a:t>Electronic</a:t>
            </a:r>
            <a:r>
              <a:rPr sz="1800" spc="-165" dirty="0">
                <a:latin typeface="Arial MT"/>
                <a:cs typeface="Arial MT"/>
              </a:rPr>
              <a:t>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and  </a:t>
            </a:r>
            <a:r>
              <a:rPr sz="1800" spc="-170" dirty="0">
                <a:latin typeface="Arial MT"/>
                <a:cs typeface="Arial MT"/>
              </a:rPr>
              <a:t>Telecommunications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75398" y="1188924"/>
            <a:ext cx="144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Presentation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20000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0" y="1328386"/>
            <a:ext cx="12192000" cy="41960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5055"/>
              </a:lnSpc>
              <a:spcBef>
                <a:spcPts val="120"/>
              </a:spcBef>
            </a:pPr>
            <a:r>
              <a:rPr lang="en-IN" sz="4300" dirty="0">
                <a:latin typeface="Times New Roman"/>
                <a:cs typeface="Times New Roman"/>
              </a:rPr>
              <a:t>Airline Satisfaction Prediction</a:t>
            </a:r>
            <a:endParaRPr sz="4300" dirty="0">
              <a:latin typeface="Times New Roman"/>
              <a:cs typeface="Times New Roman"/>
            </a:endParaRPr>
          </a:p>
          <a:p>
            <a:pPr marL="12065" algn="ctr">
              <a:lnSpc>
                <a:spcPts val="2475"/>
              </a:lnSpc>
            </a:pPr>
            <a:r>
              <a:rPr sz="2150" i="1" dirty="0">
                <a:latin typeface="Times New Roman"/>
                <a:cs typeface="Times New Roman"/>
              </a:rPr>
              <a:t>By</a:t>
            </a:r>
            <a:endParaRPr lang="en-US" sz="2150" i="1" dirty="0">
              <a:latin typeface="Times New Roman"/>
              <a:cs typeface="Times New Roman"/>
            </a:endParaRP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Roshan Jadhav-311066-22220205</a:t>
            </a: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Aman Kumar-311013-22110559</a:t>
            </a: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Shruti Gangurde-311015-22110848</a:t>
            </a:r>
          </a:p>
          <a:p>
            <a:pPr marL="12065" algn="ctr">
              <a:lnSpc>
                <a:spcPts val="2475"/>
              </a:lnSpc>
            </a:pPr>
            <a:r>
              <a:rPr lang="en-IN" sz="2150" i="1">
                <a:latin typeface="Times New Roman"/>
                <a:cs typeface="Times New Roman"/>
              </a:rPr>
              <a:t>Rajesh Kamble-311023-22110316</a:t>
            </a:r>
            <a:endParaRPr lang="en-IN" sz="2150" i="1" dirty="0">
              <a:latin typeface="Times New Roman"/>
              <a:cs typeface="Times New Roman"/>
            </a:endParaRPr>
          </a:p>
          <a:p>
            <a:pPr marL="12065" algn="ctr">
              <a:lnSpc>
                <a:spcPts val="2475"/>
              </a:lnSpc>
            </a:pPr>
            <a:endParaRPr lang="en-IN" sz="2150" i="1" dirty="0">
              <a:latin typeface="Times New Roman"/>
              <a:cs typeface="Times New Roman"/>
            </a:endParaRP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Subject: Machine Learning</a:t>
            </a: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Guided by:</a:t>
            </a: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Yogesh Dandawate Sir</a:t>
            </a: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Department of Electronics and Telecommunications </a:t>
            </a:r>
          </a:p>
          <a:p>
            <a:pPr marL="12065" algn="ctr">
              <a:lnSpc>
                <a:spcPts val="2475"/>
              </a:lnSpc>
            </a:pPr>
            <a:r>
              <a:rPr lang="en-IN" sz="2150" i="1" dirty="0">
                <a:latin typeface="Times New Roman"/>
                <a:cs typeface="Times New Roman"/>
              </a:rPr>
              <a:t>Vishwakarma Institute of Information Technology, Pune</a:t>
            </a:r>
            <a:endParaRPr sz="21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5" y="637457"/>
            <a:ext cx="5950585" cy="547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Georgia"/>
                <a:cs typeface="Georgia"/>
              </a:rPr>
              <a:t>Outline</a:t>
            </a:r>
            <a:endParaRPr sz="4400" dirty="0">
              <a:latin typeface="Georgia"/>
              <a:cs typeface="Georgia"/>
            </a:endParaRPr>
          </a:p>
          <a:p>
            <a:pPr marL="241300" indent="-179705">
              <a:lnSpc>
                <a:spcPts val="3105"/>
              </a:lnSpc>
              <a:spcBef>
                <a:spcPts val="366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/>
                <a:cs typeface="Times New Roman"/>
              </a:rPr>
              <a:t>Introduction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Motivation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Literature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Survey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Objectives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Methodology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Dataset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5" dirty="0">
                <a:latin typeface="Times New Roman"/>
                <a:cs typeface="Times New Roman"/>
              </a:rPr>
              <a:t>Implementation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Different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Phases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Implementation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(if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any)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Results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08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Conclusions</a:t>
            </a:r>
            <a:endParaRPr sz="2600" dirty="0">
              <a:latin typeface="Times New Roman"/>
              <a:cs typeface="Times New Roman"/>
            </a:endParaRPr>
          </a:p>
          <a:p>
            <a:pPr marL="177800" indent="-116839">
              <a:lnSpc>
                <a:spcPts val="3105"/>
              </a:lnSpc>
              <a:buFont typeface="Arial MT"/>
              <a:buChar char="•"/>
              <a:tabLst>
                <a:tab pos="178435" algn="l"/>
              </a:tabLst>
            </a:pPr>
            <a:r>
              <a:rPr sz="2600" spc="-10" dirty="0">
                <a:latin typeface="Times New Roman"/>
                <a:cs typeface="Times New Roman"/>
              </a:rPr>
              <a:t>References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230484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5" dirty="0"/>
              <a:t>Airline Satisfaction prediction</a:t>
            </a: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1008109" y="1317952"/>
            <a:ext cx="876903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spc="-5" dirty="0">
                <a:latin typeface="Georgia"/>
                <a:cs typeface="Georgia"/>
              </a:rPr>
              <a:t>Introduction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964547" y="2229383"/>
            <a:ext cx="8255653" cy="376000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760"/>
              </a:spcBef>
              <a:tabLst>
                <a:tab pos="188595" algn="l"/>
              </a:tabLst>
            </a:pPr>
            <a:r>
              <a:rPr lang="en-IN" sz="2000" spc="-5" dirty="0"/>
              <a:t>In an era where air travel has become an integral part of Global connectivity, Understanding and Improving passenger satisfaction is crucial for the airline industry.</a:t>
            </a:r>
          </a:p>
          <a:p>
            <a:pPr marL="12065">
              <a:lnSpc>
                <a:spcPct val="100000"/>
              </a:lnSpc>
              <a:spcBef>
                <a:spcPts val="760"/>
              </a:spcBef>
              <a:tabLst>
                <a:tab pos="188595" algn="l"/>
              </a:tabLst>
            </a:pPr>
            <a:r>
              <a:rPr lang="en-IN" sz="2000" spc="-5" dirty="0"/>
              <a:t>The primary objective of this mini project is to develop predictive model that can assess and predict passenger satisfaction levels. By utilizing a dataset containing information about flight details customer demographics, and flight details, customer demographics, and feedback ,we aim to train a machine learning model that can accurately  classify customer satisfaction as positive  way.</a:t>
            </a:r>
          </a:p>
          <a:p>
            <a:pPr marL="12065">
              <a:lnSpc>
                <a:spcPct val="100000"/>
              </a:lnSpc>
              <a:spcBef>
                <a:spcPts val="760"/>
              </a:spcBef>
              <a:tabLst>
                <a:tab pos="188595" algn="l"/>
              </a:tabLst>
            </a:pPr>
            <a:r>
              <a:rPr lang="en-IN" sz="2000" spc="-5" dirty="0"/>
              <a:t>With the help of various python libraries based machine learning tools we are going to analyse and train the data.</a:t>
            </a:r>
          </a:p>
          <a:p>
            <a:pPr marL="12065">
              <a:lnSpc>
                <a:spcPct val="100000"/>
              </a:lnSpc>
              <a:spcBef>
                <a:spcPts val="760"/>
              </a:spcBef>
              <a:tabLst>
                <a:tab pos="188595" algn="l"/>
              </a:tabLst>
            </a:pPr>
            <a:endParaRPr lang="en-IN" sz="1800"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D5370-8240-7C23-F1EE-229E1F0CCEBE}"/>
              </a:ext>
            </a:extLst>
          </p:cNvPr>
          <p:cNvSpPr txBox="1"/>
          <p:nvPr/>
        </p:nvSpPr>
        <p:spPr>
          <a:xfrm>
            <a:off x="838200" y="1524000"/>
            <a:ext cx="73152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we'll make an attempt to build a machine learning model based on our information. The ML model will help us to predict whether a passenger is satisfied with the airline service or not.</a:t>
            </a:r>
          </a:p>
          <a:p>
            <a:pPr algn="l"/>
            <a:endParaRPr lang="en-US" b="0" i="0" dirty="0">
              <a:solidFill>
                <a:srgbClr val="1515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we're going to follow-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Defining Problem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Briefing about Data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Importing Data from libraries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Summarization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 &amp; Evaluation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94534B89-9ED3-6A5E-785B-BEBBB69A0F10}"/>
              </a:ext>
            </a:extLst>
          </p:cNvPr>
          <p:cNvGrpSpPr/>
          <p:nvPr/>
        </p:nvGrpSpPr>
        <p:grpSpPr>
          <a:xfrm>
            <a:off x="8839200" y="76200"/>
            <a:ext cx="3274060" cy="829310"/>
            <a:chOff x="8918257" y="0"/>
            <a:chExt cx="3274060" cy="82931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34F1441D-8189-8665-5130-39AA9F5332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0EB07B37-4D1A-EAA2-2DF8-FF02FA3F80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2062AC0-21F1-1974-6294-DBC670F5A3D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684242D-B16F-4EE3-C3E7-34C86EF58B16}"/>
              </a:ext>
            </a:extLst>
          </p:cNvPr>
          <p:cNvSpPr txBox="1"/>
          <p:nvPr/>
        </p:nvSpPr>
        <p:spPr>
          <a:xfrm>
            <a:off x="5106186" y="6464694"/>
            <a:ext cx="6094428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5" dirty="0"/>
              <a:t>Airline Satisfaction prediction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547AEA-14B0-D64E-D65F-CF1E026B08D0}"/>
              </a:ext>
            </a:extLst>
          </p:cNvPr>
          <p:cNvSpPr txBox="1"/>
          <p:nvPr/>
        </p:nvSpPr>
        <p:spPr>
          <a:xfrm>
            <a:off x="9625057" y="167500"/>
            <a:ext cx="2439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800" spc="-175" dirty="0">
                <a:latin typeface="Arial MT"/>
                <a:cs typeface="Arial MT"/>
              </a:rPr>
              <a:t>Departmen</a:t>
            </a:r>
            <a:r>
              <a:rPr lang="en-US" sz="1800" spc="-85" dirty="0">
                <a:latin typeface="Arial MT"/>
                <a:cs typeface="Arial MT"/>
              </a:rPr>
              <a:t>t</a:t>
            </a:r>
            <a:r>
              <a:rPr lang="en-US" sz="1800" spc="-90" dirty="0">
                <a:latin typeface="Arial MT"/>
                <a:cs typeface="Arial MT"/>
              </a:rPr>
              <a:t> </a:t>
            </a:r>
            <a:r>
              <a:rPr lang="en-US" sz="1800" spc="-175" dirty="0">
                <a:latin typeface="Arial MT"/>
                <a:cs typeface="Arial MT"/>
              </a:rPr>
              <a:t>o</a:t>
            </a:r>
            <a:r>
              <a:rPr lang="en-US" sz="1800" spc="-85" dirty="0">
                <a:latin typeface="Arial MT"/>
                <a:cs typeface="Arial MT"/>
              </a:rPr>
              <a:t>f </a:t>
            </a:r>
            <a:r>
              <a:rPr lang="en-US" sz="1800" spc="-140" dirty="0">
                <a:latin typeface="Arial MT"/>
                <a:cs typeface="Arial MT"/>
              </a:rPr>
              <a:t>Electronics  an</a:t>
            </a:r>
            <a:r>
              <a:rPr lang="en-US" sz="1800" spc="-175" dirty="0">
                <a:latin typeface="Arial MT"/>
                <a:cs typeface="Arial MT"/>
              </a:rPr>
              <a:t>d</a:t>
            </a:r>
            <a:r>
              <a:rPr lang="en-US" sz="1800" spc="-85" dirty="0">
                <a:latin typeface="Arial MT"/>
                <a:cs typeface="Arial MT"/>
              </a:rPr>
              <a:t> </a:t>
            </a:r>
            <a:r>
              <a:rPr lang="en-US" sz="1800" spc="-165" dirty="0">
                <a:latin typeface="Arial MT"/>
                <a:cs typeface="Arial MT"/>
              </a:rPr>
              <a:t>Telecommunications</a:t>
            </a: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0999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5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5" y="637457"/>
            <a:ext cx="2900680" cy="20697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spc="-5" dirty="0">
                <a:latin typeface="Georgia"/>
                <a:cs typeface="Georgia"/>
              </a:rPr>
              <a:t>Motivation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4400" spc="-5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4400" dirty="0">
              <a:latin typeface="Georgia"/>
              <a:cs typeface="Georg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E2C9C-40C0-FBAA-2DA8-3710F3D5CE67}"/>
              </a:ext>
            </a:extLst>
          </p:cNvPr>
          <p:cNvSpPr txBox="1"/>
          <p:nvPr/>
        </p:nvSpPr>
        <p:spPr>
          <a:xfrm>
            <a:off x="838200" y="1630787"/>
            <a:ext cx="9829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Improvements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Airlines can use the model to identify areas of dissatisfaction, such as specific flight routes or times, allowing them to make operational adjustments to enhance the overall travel experience.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Enhancement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predicting dissatisfaction factors, airlines can proactively address issues, improve customer service, and reduce the likelihood of negative experiences.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Identifying dissatisfaction trends related to specific aircraft or amenities can guide decisions on fleet upgrades, ensuring that customer expectations are met or exceeded.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Predicting satisfaction can aid in refining loyalty programs. Offering rewards or incentives tied to factors that influence satisfaction may increase customer loyalty.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Relations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Airlines can utilize satisfaction predictions to communicate proactively with investors, showcasing efforts to address concerns and improve the customer experience.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satisfaction is affected by technical issues, predictive maintenance based on historical data can help prevent disruptions and enhance overall passenger experience.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Partnership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how partnerships impact satisfaction can influence decisions regarding code-sharing agreements, alliances, and collaborations with other service providers.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20762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6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5" y="605738"/>
            <a:ext cx="4338320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400" spc="-5" dirty="0">
                <a:latin typeface="Georgia"/>
                <a:cs typeface="Georgia"/>
              </a:rPr>
              <a:t>Literature</a:t>
            </a:r>
            <a:r>
              <a:rPr sz="4400" spc="-50" dirty="0">
                <a:latin typeface="Georgia"/>
                <a:cs typeface="Georgia"/>
              </a:rPr>
              <a:t> </a:t>
            </a:r>
            <a:r>
              <a:rPr sz="4400" dirty="0">
                <a:latin typeface="Georgia"/>
                <a:cs typeface="Georgia"/>
              </a:rPr>
              <a:t>Survey</a:t>
            </a:r>
            <a:endParaRPr sz="4400">
              <a:latin typeface="Georgia"/>
              <a:cs typeface="Georgi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3B9EA9A-8599-8031-B37A-65DE90B27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502553"/>
              </p:ext>
            </p:extLst>
          </p:nvPr>
        </p:nvGraphicFramePr>
        <p:xfrm>
          <a:off x="1403560" y="1671320"/>
          <a:ext cx="8128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055">
                  <a:extLst>
                    <a:ext uri="{9D8B030D-6E8A-4147-A177-3AD203B41FA5}">
                      <a16:colId xmlns:a16="http://schemas.microsoft.com/office/drawing/2014/main" val="582344968"/>
                    </a:ext>
                  </a:extLst>
                </a:gridCol>
                <a:gridCol w="4131945">
                  <a:extLst>
                    <a:ext uri="{9D8B030D-6E8A-4147-A177-3AD203B41FA5}">
                      <a16:colId xmlns:a16="http://schemas.microsoft.com/office/drawing/2014/main" val="2331689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Paper/Article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11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Airline Passenger Satisfaction with Classification Algorithms.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uses several classification models such as KNN, Logistic Regression, Gaussian NB, Decision Trees and Random Forest which will later be compared.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68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 and analysis of aircraft passenger satisfaction based on RF-RFE-LR model.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with the logistic model, the factors affecting customer satisfaction are further extracted. The experimental results show that the RF-RFE model selects a feature subset containing 17 variables.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5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Intelligence in Airline Passenger Satisfaction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main objective and contribution of this paper is the application of our knowledge discovery business-intelligence technique (fuzzy rule-based classification systems) characterized by genetically optimized interpretability-accuracy trade-off (using multi-objective evolutionary optimization algorithms) to decision support related to airline passenger satisfaction problems.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566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238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7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4" y="403655"/>
            <a:ext cx="5489575" cy="171085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510"/>
              </a:lnSpc>
              <a:spcBef>
                <a:spcPts val="110"/>
              </a:spcBef>
            </a:pPr>
            <a:r>
              <a:rPr sz="3950" dirty="0">
                <a:latin typeface="Georgia"/>
                <a:cs typeface="Georgia"/>
              </a:rPr>
              <a:t>Objectives</a:t>
            </a:r>
            <a:r>
              <a:rPr sz="3950" spc="-40" dirty="0">
                <a:latin typeface="Georgia"/>
                <a:cs typeface="Georgia"/>
              </a:rPr>
              <a:t> </a:t>
            </a:r>
            <a:r>
              <a:rPr sz="3950" spc="-5" dirty="0">
                <a:latin typeface="Georgia"/>
                <a:cs typeface="Georgia"/>
              </a:rPr>
              <a:t>or</a:t>
            </a:r>
            <a:r>
              <a:rPr lang="en-IN" sz="3950" dirty="0">
                <a:latin typeface="Georgia"/>
                <a:cs typeface="Georgia"/>
              </a:rPr>
              <a:t> </a:t>
            </a:r>
            <a:r>
              <a:rPr lang="en-IN" sz="3950" spc="-5" dirty="0">
                <a:latin typeface="Georgia"/>
                <a:cs typeface="Georgia"/>
              </a:rPr>
              <a:t>Aim</a:t>
            </a:r>
          </a:p>
          <a:p>
            <a:pPr marL="12700">
              <a:lnSpc>
                <a:spcPts val="4510"/>
              </a:lnSpc>
              <a:spcBef>
                <a:spcPts val="110"/>
              </a:spcBef>
            </a:pPr>
            <a:endParaRPr lang="en-IN" sz="3950" spc="-5" dirty="0">
              <a:latin typeface="Georgia"/>
              <a:cs typeface="Times New Roman"/>
            </a:endParaRPr>
          </a:p>
          <a:p>
            <a:pPr marL="12700">
              <a:lnSpc>
                <a:spcPts val="4510"/>
              </a:lnSpc>
              <a:spcBef>
                <a:spcPts val="11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9E65E-A43E-7A2F-679F-136FAF1B2ABB}"/>
              </a:ext>
            </a:extLst>
          </p:cNvPr>
          <p:cNvSpPr txBox="1"/>
          <p:nvPr/>
        </p:nvSpPr>
        <p:spPr>
          <a:xfrm>
            <a:off x="838200" y="1302815"/>
            <a:ext cx="982003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1)Predicting passenger satisfaction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to accurately predict levels of satisfaction based on various faction.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2)Identifying key factors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key factor that significantly influence passenger satisfaction , such as in flight services punctuality and customer interactions.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3)Operation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insights into operational aspects that impact satisfaction, allowing airlines to optimize resources and improve overall efficiency.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4)Enhancing Brand Reputation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1)Utilize predictive analytics to improve overall brand reputation by consistently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positive customer experiences.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5)Strategic positioning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 position airlines to be responsive to emerging trends and challenges, ensuring long-term success in the industry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8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5" y="335705"/>
            <a:ext cx="32746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Georgia"/>
                <a:cs typeface="Georgia"/>
              </a:rPr>
              <a:t>Methodology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4547" y="1718335"/>
            <a:ext cx="10111740" cy="106182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algn="l"/>
            <a:endParaRPr lang="en-US" sz="2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12065">
              <a:lnSpc>
                <a:spcPct val="100000"/>
              </a:lnSpc>
              <a:spcBef>
                <a:spcPts val="760"/>
              </a:spcBef>
              <a:tabLst>
                <a:tab pos="188595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F7F76-84DE-122B-20DB-F5D48F5FBF55}"/>
              </a:ext>
            </a:extLst>
          </p:cNvPr>
          <p:cNvSpPr txBox="1"/>
          <p:nvPr/>
        </p:nvSpPr>
        <p:spPr>
          <a:xfrm>
            <a:off x="862279" y="1248426"/>
            <a:ext cx="10210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1)Defining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airline passenger satisfaction survey information about the passenger can we predict weather they are satisfies or not with airline services? Also what factors are they correlated to a satisfied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2)Briefing about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what does this data contains?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airline passenger satisfaction folder comes with one csv files.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Airline.csv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set contain attributes about airline services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3)Where do we get the data from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 got data from Kaggle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4)What information do we get from this data ??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their information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5)Importing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section we are going to import our basic required files and modules which need exploratory data Analysis and further data processing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6)Modules are going to use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pandas, NumPy, matplotlib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E22FE2-4E51-72E4-FE55-38A484041CCB}"/>
              </a:ext>
            </a:extLst>
          </p:cNvPr>
          <p:cNvSpPr txBox="1"/>
          <p:nvPr/>
        </p:nvSpPr>
        <p:spPr>
          <a:xfrm>
            <a:off x="914400" y="1143812"/>
            <a:ext cx="125160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7)Importing Datasets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Importing the dataset we have to download the available data from from the source,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case its Kaggle dataset.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1)We can directly download it with the help of open dataset module and load it with the o module.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2)Or we can directly download the data offline and load it with pandas module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8)Data Exploration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section we are going to explore and get useful insights about our dataset. By exploring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distributions of various columns we can see how they are related to target column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9)General Information about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value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DD8E4E17-3FB7-A772-0EE4-F77354923AEF}"/>
              </a:ext>
            </a:extLst>
          </p:cNvPr>
          <p:cNvGrpSpPr/>
          <p:nvPr/>
        </p:nvGrpSpPr>
        <p:grpSpPr>
          <a:xfrm>
            <a:off x="8861766" y="304800"/>
            <a:ext cx="3274060" cy="829310"/>
            <a:chOff x="8918257" y="0"/>
            <a:chExt cx="3274060" cy="82931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BD680BC4-9307-03F3-24CB-505A9CEE24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332D90F-14D0-64F2-6A8B-A50448AE1C4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C8F6473-6F66-87F3-4516-782FE46C825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F45FBA4-4839-F60D-4254-BB4729A82502}"/>
              </a:ext>
            </a:extLst>
          </p:cNvPr>
          <p:cNvSpPr txBox="1"/>
          <p:nvPr/>
        </p:nvSpPr>
        <p:spPr>
          <a:xfrm>
            <a:off x="5658784" y="6512596"/>
            <a:ext cx="6408548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100" spc="-5" dirty="0"/>
              <a:t>Airline Satisfaction prediction</a:t>
            </a:r>
            <a:endParaRPr lang="en-IN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2F28E-9DF4-5AD9-12ED-D5726D53C4DC}"/>
              </a:ext>
            </a:extLst>
          </p:cNvPr>
          <p:cNvSpPr txBox="1"/>
          <p:nvPr/>
        </p:nvSpPr>
        <p:spPr>
          <a:xfrm>
            <a:off x="9623766" y="376081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800" spc="-175" dirty="0">
                <a:latin typeface="Arial MT"/>
                <a:cs typeface="Arial MT"/>
              </a:rPr>
              <a:t>Departmen</a:t>
            </a:r>
            <a:r>
              <a:rPr lang="en-US" sz="1800" spc="-85" dirty="0">
                <a:latin typeface="Arial MT"/>
                <a:cs typeface="Arial MT"/>
              </a:rPr>
              <a:t>t</a:t>
            </a:r>
            <a:r>
              <a:rPr lang="en-US" sz="1800" spc="-90" dirty="0">
                <a:latin typeface="Arial MT"/>
                <a:cs typeface="Arial MT"/>
              </a:rPr>
              <a:t> </a:t>
            </a:r>
            <a:r>
              <a:rPr lang="en-US" sz="1800" spc="-175" dirty="0">
                <a:latin typeface="Arial MT"/>
                <a:cs typeface="Arial MT"/>
              </a:rPr>
              <a:t>o</a:t>
            </a:r>
            <a:r>
              <a:rPr lang="en-US" sz="1800" spc="-85" dirty="0">
                <a:latin typeface="Arial MT"/>
                <a:cs typeface="Arial MT"/>
              </a:rPr>
              <a:t>f </a:t>
            </a:r>
            <a:r>
              <a:rPr lang="en-US" sz="1800" spc="-140" dirty="0">
                <a:latin typeface="Arial MT"/>
                <a:cs typeface="Arial MT"/>
              </a:rPr>
              <a:t>Electronics  an</a:t>
            </a:r>
            <a:r>
              <a:rPr lang="en-US" sz="1800" spc="-175" dirty="0">
                <a:latin typeface="Arial MT"/>
                <a:cs typeface="Arial MT"/>
              </a:rPr>
              <a:t>d</a:t>
            </a:r>
            <a:r>
              <a:rPr lang="en-US" sz="1800" spc="-85" dirty="0">
                <a:latin typeface="Arial MT"/>
                <a:cs typeface="Arial MT"/>
              </a:rPr>
              <a:t> </a:t>
            </a:r>
            <a:r>
              <a:rPr lang="en-US" sz="1800" spc="-165" dirty="0">
                <a:latin typeface="Arial MT"/>
                <a:cs typeface="Arial MT"/>
              </a:rPr>
              <a:t>Telecommunications</a:t>
            </a: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0385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0663B-0325-4663-582C-7A189BFBFBC5}"/>
              </a:ext>
            </a:extLst>
          </p:cNvPr>
          <p:cNvSpPr txBox="1"/>
          <p:nvPr/>
        </p:nvSpPr>
        <p:spPr>
          <a:xfrm>
            <a:off x="981891" y="1066800"/>
            <a:ext cx="78486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1)Selection After encoding the model, I wanted to immediately conduct feature selection — not just so that my model would run efficiently but also so that the models themselves had less dimensionality to reduce noise and possible overfitting.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models are used in this project to check for maximum efficiency. They are,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A20C084-5D1A-137A-1E81-B17AEFBD3506}"/>
              </a:ext>
            </a:extLst>
          </p:cNvPr>
          <p:cNvGrpSpPr/>
          <p:nvPr/>
        </p:nvGrpSpPr>
        <p:grpSpPr>
          <a:xfrm>
            <a:off x="8839200" y="76200"/>
            <a:ext cx="3274060" cy="829310"/>
            <a:chOff x="8918257" y="0"/>
            <a:chExt cx="3274060" cy="82931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1889905-2D60-CC44-C13F-B18010A448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CC02B4B-7FE6-2356-D721-73A00156123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53067A6-253A-3218-DFCB-9246697DDBD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75F07FB-E355-65FD-8194-A544DFB01CA3}"/>
              </a:ext>
            </a:extLst>
          </p:cNvPr>
          <p:cNvSpPr txBox="1"/>
          <p:nvPr/>
        </p:nvSpPr>
        <p:spPr>
          <a:xfrm>
            <a:off x="5334646" y="6573298"/>
            <a:ext cx="6094708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100" spc="-5" dirty="0"/>
              <a:t>Airline Satisfaction prediction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7427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59999" y="375596"/>
            <a:ext cx="31927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Georgia"/>
                <a:cs typeface="Georgia"/>
              </a:rPr>
              <a:t>Dataset</a:t>
            </a:r>
            <a:r>
              <a:rPr sz="4400" spc="-90" dirty="0">
                <a:latin typeface="Georgia"/>
                <a:cs typeface="Georgia"/>
              </a:rPr>
              <a:t> </a:t>
            </a:r>
            <a:r>
              <a:rPr sz="4400" spc="-5" dirty="0">
                <a:latin typeface="Georgia"/>
                <a:cs typeface="Georgia"/>
              </a:rPr>
              <a:t>used</a:t>
            </a:r>
            <a:endParaRPr sz="4400" dirty="0">
              <a:latin typeface="Georgia"/>
              <a:cs typeface="Georgi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C77393-55EE-2466-9E51-87BA76AC52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74016"/>
            <a:ext cx="4724400" cy="5229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BFDB33-3CD7-384C-D9D3-0B73D803EE3E}"/>
              </a:ext>
            </a:extLst>
          </p:cNvPr>
          <p:cNvSpPr txBox="1"/>
          <p:nvPr/>
        </p:nvSpPr>
        <p:spPr>
          <a:xfrm>
            <a:off x="6080095" y="1640298"/>
            <a:ext cx="4648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drivers of airline loyalty</a:t>
            </a:r>
          </a:p>
          <a:p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Dolnicar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Klaus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Grabler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Bettina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Kulniq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investigation of service quality, customer satisfaction and loyalty in China's airline market</a:t>
            </a:r>
          </a:p>
          <a:p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Hongwei Jiang,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Yahua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</a:t>
            </a:r>
            <a:endParaRPr lang="en-US" sz="2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Airline Passenger Satisfaction</a:t>
            </a:r>
            <a:endParaRPr lang="en-IN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IN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Marian B. Gorzałczany  , Filip Rudzi ´nski and Jakub Piekoszewski </a:t>
            </a:r>
            <a:endParaRPr lang="en-IN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3-12-03 at 12.03.48 A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609600"/>
            <a:ext cx="5319712" cy="5195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5" y="637457"/>
            <a:ext cx="18427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Georgia"/>
                <a:cs typeface="Georgia"/>
              </a:rPr>
              <a:t>Results</a:t>
            </a:r>
            <a:endParaRPr sz="4400">
              <a:latin typeface="Georgia"/>
              <a:cs typeface="Georgi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482E7A-4C39-3B08-3143-508ED3BC2D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610" y="2133600"/>
            <a:ext cx="4248743" cy="2191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7560" y="0"/>
            <a:ext cx="300451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</a:t>
            </a:r>
            <a:r>
              <a:rPr lang="en-IN" spc="-5" dirty="0"/>
              <a:t>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5" y="335705"/>
            <a:ext cx="2787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Georgia"/>
                <a:cs typeface="Georgia"/>
              </a:rPr>
              <a:t>Conclusion</a:t>
            </a:r>
            <a:endParaRPr sz="4400" dirty="0">
              <a:latin typeface="Georgia"/>
              <a:cs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88D5B-AA7F-FC31-9F86-93866F87501A}"/>
              </a:ext>
            </a:extLst>
          </p:cNvPr>
          <p:cNvSpPr txBox="1"/>
          <p:nvPr/>
        </p:nvSpPr>
        <p:spPr>
          <a:xfrm>
            <a:off x="763247" y="1524000"/>
            <a:ext cx="101663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IN" dirty="0"/>
              <a:t> 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be able to confidently present to the client that we have data-informed recommendations on where they can improve their customer service, evidenced by an interpretable XG Boost machine-learning pipeline that exhibits high accuracy and high precision.</a:t>
            </a:r>
          </a:p>
          <a:p>
            <a:pPr marL="40005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summarize, it’s very crucial to focus on how efficiently passengers get on the plane, and how they’re treated while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board.There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fundamental difference in satisfaction given how customers react to certain service qualities given their reason for traveling. </a:t>
            </a:r>
          </a:p>
          <a:p>
            <a:pPr marL="40005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Most important among these service aspects is the quality of in-flight Wi-Fi service on board. Regardless of cabin or travel purpose, high marks in Wi-Fi capabilities are a huge opportunity for increasing customer satisfaction and expanding competitive advantage.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15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1224" y="637457"/>
            <a:ext cx="10823576" cy="347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Georgia"/>
                <a:cs typeface="Georgia"/>
              </a:rPr>
              <a:t>References</a:t>
            </a:r>
            <a:endParaRPr sz="4400" dirty="0">
              <a:latin typeface="Georgia"/>
              <a:cs typeface="Georgia"/>
            </a:endParaRPr>
          </a:p>
          <a:p>
            <a:pPr marL="241300" indent="-179705">
              <a:lnSpc>
                <a:spcPct val="150000"/>
              </a:lnSpc>
              <a:spcBef>
                <a:spcPts val="36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Airline Passenger Satisfaction Dataset (Kaggle):</a:t>
            </a:r>
            <a:r>
              <a:rPr lang="en-IN" sz="1200" spc="-10" dirty="0">
                <a:latin typeface="Times New Roman"/>
                <a:cs typeface="Times New Roman"/>
                <a:hlinkClick r:id="rId6"/>
              </a:rPr>
              <a:t>https://www.kaggle.com/datasets/teejmahal20/airline-passenger-satisfaction</a:t>
            </a:r>
            <a:r>
              <a:rPr sz="1200" spc="-15" dirty="0">
                <a:latin typeface="Times New Roman"/>
                <a:cs typeface="Times New Roman"/>
                <a:hlinkClick r:id="rId6"/>
              </a:rPr>
              <a:t>Example</a:t>
            </a:r>
            <a:endParaRPr sz="1200" dirty="0">
              <a:latin typeface="Times New Roman"/>
              <a:cs typeface="Times New Roman"/>
            </a:endParaRPr>
          </a:p>
          <a:p>
            <a:pPr marL="241300" indent="-17970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  <a:tab pos="1153795" algn="l"/>
              </a:tabLst>
            </a:pPr>
            <a:r>
              <a:rPr lang="en-IN" sz="1100" spc="-10" dirty="0">
                <a:solidFill>
                  <a:srgbClr val="00B0F0"/>
                </a:solidFill>
                <a:latin typeface="Times New Roman"/>
                <a:cs typeface="Times New Roman"/>
              </a:rPr>
              <a:t>https://r.search.yahoo.com/_ylt=Awr1QSuBa2ll.VEGqKy7HAx.;_ylu=Y29sbwNzZzMEcG9zAzQEdnRpZAMEc2VjA3Ny/RV=2/RE=1701436418/RO=10/RU=https%3a%2f%2fwww.researchgate.net%2fpublication%2f372066077_AIRLINE_PASSENGER_SATISFACTION_PREDICTION_USING_MACHINE_LEARNING_ALGORITHMS/RK=2/RS=pMKGWHiGZ4QnvZW7rISmZhtgDZs-</a:t>
            </a:r>
          </a:p>
          <a:p>
            <a:pPr marL="241300" indent="-17970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  <a:tab pos="1153795" algn="l"/>
              </a:tabLst>
            </a:pPr>
            <a:r>
              <a:rPr lang="en-IN" sz="1200" dirty="0">
                <a:latin typeface="Times New Roman"/>
                <a:cs typeface="Times New Roman"/>
                <a:hlinkClick r:id="rId7"/>
              </a:rPr>
              <a:t>https://github.com/chrisbacani/Udacity-Data-Scientist-Capstone</a:t>
            </a:r>
            <a:endParaRPr lang="en-IN" sz="1200" dirty="0">
              <a:latin typeface="Times New Roman"/>
              <a:cs typeface="Times New Roman"/>
            </a:endParaRPr>
          </a:p>
          <a:p>
            <a:pPr marL="241300" indent="-17970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  <a:tab pos="1153795" algn="l"/>
              </a:tabLst>
            </a:pPr>
            <a:r>
              <a:rPr lang="en-IN" sz="1200" spc="-5" dirty="0">
                <a:solidFill>
                  <a:srgbClr val="00B0F0"/>
                </a:solidFill>
                <a:latin typeface="Times New Roman"/>
                <a:cs typeface="Times New Roman"/>
              </a:rPr>
              <a:t>https://r.search.yahoo.com/_ylt=Awr1QSuBa2ll.VEGqqy7HAx.;_ylu=Y29sbwNzZzMEcG9zAzYEdnRpZAMEc2VjA3Ny/RV=2/RE=1701436418/RO=10/RU=https%3a%2f%2fwww.researchgate.net%2fpublication%2f344665517_A_STUDY_ON_SERVICE_QUALITY_AND_PASSENGER_SATISFACTION_ON_AIRLINES/RK=2/RS=TFAGra9anjZHMwtkCIRdrtKA6NU-</a:t>
            </a:r>
          </a:p>
          <a:p>
            <a:pPr marL="241300" indent="-17970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  <a:tab pos="1153795" algn="l"/>
              </a:tabLst>
            </a:pP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7975" y="0"/>
            <a:ext cx="1054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VII  </a:t>
            </a:r>
            <a:r>
              <a:rPr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8257" y="0"/>
            <a:ext cx="3274060" cy="829310"/>
            <a:chOff x="8918257" y="0"/>
            <a:chExt cx="3274060" cy="82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257" y="0"/>
              <a:ext cx="863600" cy="8289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115" y="0"/>
              <a:ext cx="761999" cy="751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0257" y="42736"/>
              <a:ext cx="2511742" cy="7171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777141" y="83360"/>
            <a:ext cx="2054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spc="-175" dirty="0">
                <a:latin typeface="Arial MT"/>
                <a:cs typeface="Arial MT"/>
              </a:rPr>
              <a:t>Departmen</a:t>
            </a:r>
            <a:r>
              <a:rPr sz="1700" spc="-85" dirty="0">
                <a:latin typeface="Arial MT"/>
                <a:cs typeface="Arial MT"/>
              </a:rPr>
              <a:t>t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75" dirty="0">
                <a:latin typeface="Arial MT"/>
                <a:cs typeface="Arial MT"/>
              </a:rPr>
              <a:t>o</a:t>
            </a:r>
            <a:r>
              <a:rPr sz="1700" spc="-85" dirty="0">
                <a:latin typeface="Arial MT"/>
                <a:cs typeface="Arial MT"/>
              </a:rPr>
              <a:t>f </a:t>
            </a:r>
            <a:r>
              <a:rPr sz="1700" spc="-140" dirty="0">
                <a:latin typeface="Arial MT"/>
                <a:cs typeface="Arial MT"/>
              </a:rPr>
              <a:t>Electronics  an</a:t>
            </a:r>
            <a:r>
              <a:rPr sz="1700" spc="-175" dirty="0">
                <a:latin typeface="Arial MT"/>
                <a:cs typeface="Arial MT"/>
              </a:rPr>
              <a:t>d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65" dirty="0">
                <a:latin typeface="Arial MT"/>
                <a:cs typeface="Arial MT"/>
              </a:rPr>
              <a:t>Telecommunications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7560" y="6445270"/>
            <a:ext cx="19504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5" dirty="0"/>
              <a:t>Airline Satisfaction Prediction</a:t>
            </a:r>
            <a:endParaRPr lang="en-US" dirty="0"/>
          </a:p>
          <a:p>
            <a:pPr marL="12700">
              <a:lnSpc>
                <a:spcPts val="1410"/>
              </a:lnSpc>
            </a:pP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16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3736189" y="3451762"/>
            <a:ext cx="5272405" cy="10267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50" dirty="0">
                <a:latin typeface="Georgia"/>
                <a:cs typeface="Georgia"/>
              </a:rPr>
              <a:t>THANK</a:t>
            </a:r>
            <a:r>
              <a:rPr sz="6550" spc="-65" dirty="0">
                <a:latin typeface="Georgia"/>
                <a:cs typeface="Georgia"/>
              </a:rPr>
              <a:t> </a:t>
            </a:r>
            <a:r>
              <a:rPr sz="6550" spc="5" dirty="0">
                <a:latin typeface="Georgia"/>
                <a:cs typeface="Georgia"/>
              </a:rPr>
              <a:t>YOU</a:t>
            </a:r>
            <a:endParaRPr sz="655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1527</Words>
  <Application>Microsoft Office PowerPoint</Application>
  <PresentationFormat>Widescreen</PresentationFormat>
  <Paragraphs>181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MT</vt:lpstr>
      <vt:lpstr>Calibri</vt:lpstr>
      <vt:lpstr>Georgia</vt:lpstr>
      <vt:lpstr>Söhne</vt:lpstr>
      <vt:lpstr>Times New Roman</vt:lpstr>
      <vt:lpstr>Wingdings</vt:lpstr>
      <vt:lpstr>Office Theme</vt:lpstr>
      <vt:lpstr>VII</vt:lpstr>
      <vt:lpstr>VII  T</vt:lpstr>
      <vt:lpstr>VII  T</vt:lpstr>
      <vt:lpstr>PowerPoint Presentation</vt:lpstr>
      <vt:lpstr>VII  T</vt:lpstr>
      <vt:lpstr>VII  T</vt:lpstr>
      <vt:lpstr>VII  T</vt:lpstr>
      <vt:lpstr>VII  T</vt:lpstr>
      <vt:lpstr>PowerPoint Presentation</vt:lpstr>
      <vt:lpstr>PowerPoint Presentation</vt:lpstr>
      <vt:lpstr>VII  T</vt:lpstr>
      <vt:lpstr>PowerPoint Presentation</vt:lpstr>
      <vt:lpstr>VII  T</vt:lpstr>
      <vt:lpstr>VII  T</vt:lpstr>
      <vt:lpstr>VII  T</vt:lpstr>
      <vt:lpstr>VII  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VII</dc:title>
  <dc:creator>DELL</dc:creator>
  <cp:lastModifiedBy>Roshan Jadhav</cp:lastModifiedBy>
  <cp:revision>15</cp:revision>
  <dcterms:created xsi:type="dcterms:W3CDTF">2023-11-30T16:11:27Z</dcterms:created>
  <dcterms:modified xsi:type="dcterms:W3CDTF">2023-12-06T19:42:38Z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2023-12-06T19:26:12Z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0e133352-6637-47ee-834e-b5398ba1b452</vt:lpwstr>
  </property>
  <property fmtid="{D5CDD505-2E9C-101B-9397-08002B2CF9AE}" pid="8" name="MSIP_Label_defa4170-0d19-0005-0004-bc88714345d2_ActionId">
    <vt:lpwstr>52c3e747-c8ca-41b9-b452-5f0317e6a630</vt:lpwstr>
  </property>
  <property fmtid="{D5CDD505-2E9C-101B-9397-08002B2CF9AE}" pid="9" name="MSIP_Label_defa4170-0d19-0005-0004-bc88714345d2_ContentBits">
    <vt:lpwstr>0</vt:lpwstr>
  </property>
</Properties>
</file>